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consolata" pitchFamily="1" charset="0"/>
      <p:regular r:id="rId13"/>
    </p:embeddedFont>
    <p:embeddedFont>
      <p:font typeface="Montserrat Black" panose="00000A00000000000000" pitchFamily="2" charset="0"/>
      <p:regular r:id="rId14"/>
    </p:embeddedFont>
    <p:embeddedFont>
      <p:font typeface="Montserrat Light" panose="000004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67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1D255-BE80-29F4-66DB-0DE96A68D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55969-9E03-2AF5-9A64-026784F17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FFFE-7222-1FB8-0539-8A7BE37E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D311-45D9-1688-3438-D6174122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1BCD6-7454-A19C-B1DE-02EC245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518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4974-B00F-80BA-95F2-773404D3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086C-C3C9-9593-7035-A83C55B4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22F20-CFA6-9F20-CF9E-E16564A6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70B80-16B6-18D5-0D22-31ACC2EB4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E0351-508D-62AC-0AB5-5459EA65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9723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797-4413-5D32-AE1C-221ED276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C1145-29E8-12EF-0402-E819306A5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9B748-C0F4-C017-7547-0985A69D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38EA-004E-B109-0413-D32D1833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1CE11-5B17-8227-4622-EF1C3958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3561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5639-FD9D-21E3-CD65-BD44B609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854B-807C-B0FB-8FD1-AF788AFFE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1C210-8B74-4708-0066-D5872A306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C8394-EDF6-D842-3EB0-02A459C4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63ACB-60D1-76D7-5068-82620864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05558-0C8E-AE9D-6F4C-0DA68FCB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0547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6B7C-5A04-9246-EE90-4106C5D5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8E84D-EC4A-3556-0D53-CE336A85C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41DA6-3BB3-C672-1F04-F6FB20D4F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EE49E-2A00-028E-43FA-C0198BFBD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D016E-6675-2CE2-2A61-960C9BC3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9442E-6315-76DC-C99C-062737F0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58165-4F13-D345-C246-196199F1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63FB1-6470-03CF-57A5-C6801976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69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8FEE-1A3E-2CB3-DAFF-169F0B51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5375D-2715-EDF2-7B84-94AB6F6E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62B0-ADE0-F345-4A1D-C8ECF62F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6AC44-BE0F-341B-9DA3-3AEAD05D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447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DBCFB-59F7-A26F-A58B-62E35933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8E571-8C22-313F-7140-F962D9E6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4B593-715D-0700-1876-C1116E8E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100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3BF2-19FE-1AF5-AABB-A3A391FC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BAB8-174C-CC05-CDB4-FED618E0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CB880-653A-D1D0-0D88-36153E83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98AC4-358E-C22F-C57B-DA809408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1CAA2-AE7A-57E5-43AE-05DA42E8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7F89D-3F0E-7722-6B4F-5809B988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2172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585B-2082-EBFB-AAA4-9560ADC7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0DCA-9CE2-90BA-50D1-A537B1EE4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E59DB-2404-3884-89FA-CC983E3A9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5B3E4-CD3A-15A8-96C7-758C3E5C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E6515-79A3-A724-9F40-93D78EF7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3D35E-ECEC-A81E-891D-C3300A40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163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FC4C-1724-13EF-0B8F-EBB7B192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14A1-FD1A-FA61-F8B6-9B69E8961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04C8C-6CE3-1763-2030-B2AA3E2D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5698B-951E-3A41-C50E-2629A131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B19BC-068F-73E2-E1E2-8F765792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993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716E6-4E1B-277F-3F98-EC2CF89C3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06069-ADCB-90A6-9141-962212D0D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8B602-DB20-A7FB-7D78-F31D90AC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E760-F17D-C7E6-EFF2-6A015591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A889-A92F-0531-9B18-A70FDBE5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038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800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92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130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525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711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6509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813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857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128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23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C1DBF-1E62-9AFC-896B-B937BB48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7690-323F-8A51-4F79-45FFA96BF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630D-7B76-5040-F16E-A155E4E10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8DADB-0BB2-9709-4443-9A989C176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2C81-865E-81F3-BE51-04206C947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8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Trader Behavioral Analysis: The Sentiment Gap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market emotions drive trading decisions, risk appetite, and profitability in crypto markets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633"/>
            <a:ext cx="61295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78574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analysis examines 211,224 trades against historical Fear &amp; Greed Index data, revealing how trader emotions influence market behavior. Key findings challenge conventional wisdom: traders are most profitable during fear, exhibit persistent bullish bias regardless of sentiment, and show paradoxical activity spikes during high-stress conditions.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111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Three distinct trader archetypes—Whales, Frequent Retail, and Occasional Retail—demonstrate markedly different performance patterns under emotional market stress.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091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Research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Normalized 211,224 trade timestamps (IST) to daily grains, enabling linkage with Crypto Fear &amp; Greed Index values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14901"/>
            <a:ext cx="29496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 Engineering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Calculated daily PnL, win rates, long/short ratios, and sentiment buckets (Fear: 0-40, Neutral: 41-60, Greed: 61-100)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0214"/>
            <a:ext cx="3261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Trader Segmentation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Classified users into behavioral archetypes based on position size and trade frequency distributions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20214"/>
            <a:ext cx="3376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Analysis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Correlated sentiment buckets with profitability metrics across all trader segments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2304" y="1311354"/>
            <a:ext cx="6939320" cy="505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Trader Archetype Classification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052304" y="1989415"/>
            <a:ext cx="3948470" cy="2517458"/>
          </a:xfrm>
          <a:prstGeom prst="roundRect">
            <a:avLst>
              <a:gd name="adj" fmla="val 36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221611" y="2158722"/>
            <a:ext cx="485061" cy="485061"/>
          </a:xfrm>
          <a:prstGeom prst="roundRect">
            <a:avLst>
              <a:gd name="adj" fmla="val 18849352"/>
            </a:avLst>
          </a:prstGeom>
          <a:solidFill>
            <a:srgbClr val="15161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4961" y="2292072"/>
            <a:ext cx="218242" cy="2182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1611" y="2759035"/>
            <a:ext cx="202120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Whales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21611" y="3080742"/>
            <a:ext cx="36098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 25th percentile by average position size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221611" y="3371255"/>
            <a:ext cx="3609856" cy="6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Large capital deployment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Strategic timing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Market-moving capacity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0116026" y="1989415"/>
            <a:ext cx="3948470" cy="2517458"/>
          </a:xfrm>
          <a:prstGeom prst="roundRect">
            <a:avLst>
              <a:gd name="adj" fmla="val 36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285333" y="2158722"/>
            <a:ext cx="485061" cy="485061"/>
          </a:xfrm>
          <a:prstGeom prst="roundRect">
            <a:avLst>
              <a:gd name="adj" fmla="val 18849352"/>
            </a:avLst>
          </a:prstGeom>
          <a:solidFill>
            <a:srgbClr val="15161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8683" y="2292072"/>
            <a:ext cx="218242" cy="2182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85333" y="2759035"/>
            <a:ext cx="202120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Frequent Retail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0285333" y="3080742"/>
            <a:ext cx="36098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trade frequency (&gt;10 trades/day) with smaller position sizes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285333" y="3592711"/>
            <a:ext cx="3609856" cy="6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Active engagement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Shorter holding periods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Emotional decision-making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52304" y="4461871"/>
            <a:ext cx="8012192" cy="2296001"/>
          </a:xfrm>
          <a:prstGeom prst="roundRect">
            <a:avLst>
              <a:gd name="adj" fmla="val 39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21611" y="4631177"/>
            <a:ext cx="485061" cy="485061"/>
          </a:xfrm>
          <a:prstGeom prst="roundRect">
            <a:avLst>
              <a:gd name="adj" fmla="val 18849352"/>
            </a:avLst>
          </a:prstGeom>
          <a:solidFill>
            <a:srgbClr val="15161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61" y="4764527"/>
            <a:ext cx="218242" cy="2182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21611" y="5231491"/>
            <a:ext cx="202120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Occasional Retail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221611" y="5553197"/>
            <a:ext cx="767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 frequency trading with small position sizes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221611" y="5843710"/>
            <a:ext cx="7673578" cy="66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Opportunistic entries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Longer time horizons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Limited market exposure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6638"/>
            <a:ext cx="82648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Panic-Trading Paradox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2393"/>
            <a:ext cx="505456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Activity Spikes During Fear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04498"/>
            <a:ext cx="828413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Trading frequency and average position sizes increase by approximately </a:t>
            </a:r>
            <a:r>
              <a:rPr lang="en-US" sz="1750" b="1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37%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during Fear days compared to Greed conditions. This counterintuitive behavior suggests high-stress "dip-buying" or "revenge trading" patterns emerge precisely when emotional stress peaks.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6018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Traders exhibit </a:t>
            </a: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increased activity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during negative sentiment—potentially driven by FOMO, desperation to recoup losses, or contrarian positioning—despite elevated risk environments.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9475589" y="2725579"/>
            <a:ext cx="4531876" cy="3827383"/>
          </a:xfrm>
          <a:prstGeom prst="roundRect">
            <a:avLst>
              <a:gd name="adj" fmla="val 239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9702403" y="2952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02403" y="3533537"/>
            <a:ext cx="40782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 sentiment deteriorates, trading activity paradoxically accelerates, revealing behavioral patterns that contradict rational risk management principles.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174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Profitability vs. Sentiment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3281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$5,185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56461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Average Daily PnL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409361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During Fear conditions (Index 0-40)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253281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$4,144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56461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Average Daily PnL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4409361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During Greed conditions (Index 61-100)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253281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+25%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56461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Delta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409361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Higher profitability during fear-driven markets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753219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Contrary to popular belief, average daily profitability was </a:t>
            </a: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25% higher during Fear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than during Greed. This outperformance is largely driven by Whale segments who successfully capitalize on extreme fear conditions, buying undervalued positions and selling into recovery rallies.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628650"/>
            <a:ext cx="684037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Persistent Bullish Bias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6527" y="1664851"/>
            <a:ext cx="7570946" cy="1710928"/>
          </a:xfrm>
          <a:prstGeom prst="roundRect">
            <a:avLst>
              <a:gd name="adj" fmla="val 855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56047" y="1664851"/>
            <a:ext cx="121920" cy="1710928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1133118" y="1920002"/>
            <a:ext cx="339125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Long/Short Ratio &gt; 3.0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33118" y="2404824"/>
            <a:ext cx="696920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Consistently elevated long positions regardless of market sentiment levels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86527" y="3598426"/>
            <a:ext cx="7570946" cy="1710928"/>
          </a:xfrm>
          <a:prstGeom prst="roundRect">
            <a:avLst>
              <a:gd name="adj" fmla="val 855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6047" y="3598426"/>
            <a:ext cx="121920" cy="1710928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1133118" y="3853577"/>
            <a:ext cx="3103602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Structural Optimism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33118" y="4338399"/>
            <a:ext cx="696920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Retail participants maintain bullish positioning even during "Extreme Fear" conditions when fundamentals suggest caution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6527" y="5532001"/>
            <a:ext cx="7570946" cy="2068830"/>
          </a:xfrm>
          <a:prstGeom prst="roundRect">
            <a:avLst>
              <a:gd name="adj" fmla="val 7072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6047" y="5532001"/>
            <a:ext cx="121920" cy="206883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1133118" y="5787152"/>
            <a:ext cx="285619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Pattern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33118" y="6271974"/>
            <a:ext cx="6969204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Persistent bias indicates anchoring to previous highs, recency bias, or FOMO-driven positioning rather than sentiment-adaptive strategies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871" y="824746"/>
            <a:ext cx="7709059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by Trader Segment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71" y="2383750"/>
            <a:ext cx="1024890" cy="17777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14022" y="2588657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Whales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14022" y="3020020"/>
            <a:ext cx="6498907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Peak profitability during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Extreme Fear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(Index &lt; 25). Strategic contrarian positioning capitalizes on market dislocations and liquidity crises.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871" y="4161472"/>
            <a:ext cx="1024890" cy="17777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14022" y="4366379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Frequent Retail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14022" y="4797743"/>
            <a:ext cx="6498907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Win rates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 not improve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during Greed despite increased activity. High-frequency trading without sentiment adaptation leads to diminished returns.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871" y="5939195"/>
            <a:ext cx="1024890" cy="14655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14022" y="6144101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Occasional Retail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14022" y="6575465"/>
            <a:ext cx="6498907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Limited data due to low frequency, but patterns suggest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missed opportunities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during optimal fear-driven entry points.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703" y="838557"/>
            <a:ext cx="5983724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Actionable Strategies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99703" y="1749981"/>
            <a:ext cx="7717393" cy="2883694"/>
          </a:xfrm>
          <a:prstGeom prst="roundRect">
            <a:avLst>
              <a:gd name="adj" fmla="val 3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11039" y="1961317"/>
            <a:ext cx="611386" cy="611386"/>
          </a:xfrm>
          <a:prstGeom prst="roundRect">
            <a:avLst>
              <a:gd name="adj" fmla="val 14954686"/>
            </a:avLst>
          </a:prstGeom>
          <a:solidFill>
            <a:srgbClr val="15161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9156" y="2129433"/>
            <a:ext cx="275034" cy="2750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1039" y="2755821"/>
            <a:ext cx="524279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"Extreme Fear" Liquidity Strategy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11039" y="3184088"/>
            <a:ext cx="729472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When Index values drop below 25, Whale segments demonstrate peak profitability.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Offer fee rebates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 Whale participants to encourage market-making activity precisely when liquidity is most scarce and needed.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99703" y="4816793"/>
            <a:ext cx="7717393" cy="2574131"/>
          </a:xfrm>
          <a:prstGeom prst="roundRect">
            <a:avLst>
              <a:gd name="adj" fmla="val 3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11039" y="5028128"/>
            <a:ext cx="611386" cy="611386"/>
          </a:xfrm>
          <a:prstGeom prst="roundRect">
            <a:avLst>
              <a:gd name="adj" fmla="val 14954686"/>
            </a:avLst>
          </a:prstGeom>
          <a:solidFill>
            <a:srgbClr val="15161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9156" y="5196245"/>
            <a:ext cx="275034" cy="275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11039" y="5822633"/>
            <a:ext cx="360878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"Greed" Leverage Cap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411039" y="6250900"/>
            <a:ext cx="7294721" cy="928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Retail win rates show no improvement during Greed conditions despite elevated trading frequency.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 dynamic leverage caps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when F&amp;G Index exceeds 75 to prevent over-exposure at market tops.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3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3540443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Takeaways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5453" y="4540329"/>
            <a:ext cx="492085" cy="492085"/>
          </a:xfrm>
          <a:prstGeom prst="roundRect">
            <a:avLst>
              <a:gd name="adj" fmla="val 185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47427" y="4581287"/>
            <a:ext cx="328017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468398" y="4615458"/>
            <a:ext cx="4723090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Fear drives activity, not caution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468398" y="5083612"/>
            <a:ext cx="5715000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37% increase in trading frequency during fear contradicts rational risk management assumptions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47002" y="4540329"/>
            <a:ext cx="492085" cy="492085"/>
          </a:xfrm>
          <a:prstGeom prst="roundRect">
            <a:avLst>
              <a:gd name="adj" fmla="val 185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28977" y="4581287"/>
            <a:ext cx="328017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8149947" y="4615458"/>
            <a:ext cx="478131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Profitability peaks during stress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8149947" y="5083612"/>
            <a:ext cx="5715000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25% higher returns during fear conditions, driven by strategic Whale positioning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5453" y="6192560"/>
            <a:ext cx="492085" cy="492085"/>
          </a:xfrm>
          <a:prstGeom prst="roundRect">
            <a:avLst>
              <a:gd name="adj" fmla="val 185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7427" y="6233517"/>
            <a:ext cx="328017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468398" y="6267688"/>
            <a:ext cx="4772739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Bullish bias persists structurally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68398" y="6735842"/>
            <a:ext cx="5715000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Long/short ratios exceed 3.0 regardless of sentiment, indicating behavioral anchoring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447002" y="6192560"/>
            <a:ext cx="492085" cy="492085"/>
          </a:xfrm>
          <a:prstGeom prst="roundRect">
            <a:avLst>
              <a:gd name="adj" fmla="val 185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28977" y="6233517"/>
            <a:ext cx="328017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8149947" y="6267688"/>
            <a:ext cx="467844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Segment-specific interventions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8149947" y="6735842"/>
            <a:ext cx="5715000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Fee rebates during extreme fear and dynamic leverage caps during greed optimize platform performance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706</Words>
  <Application>Microsoft Office PowerPoint</Application>
  <PresentationFormat>Custom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Montserrat Light</vt:lpstr>
      <vt:lpstr>Inconsolata</vt:lpstr>
      <vt:lpstr>Calibri</vt:lpstr>
      <vt:lpstr>Arial</vt:lpstr>
      <vt:lpstr>Montserrat Black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Mohd Sahil</cp:lastModifiedBy>
  <cp:revision>2</cp:revision>
  <dcterms:created xsi:type="dcterms:W3CDTF">2026-02-04T20:44:00Z</dcterms:created>
  <dcterms:modified xsi:type="dcterms:W3CDTF">2026-02-04T20:44:59Z</dcterms:modified>
</cp:coreProperties>
</file>